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" y="1753362"/>
            <a:ext cx="5924550" cy="4715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SIH26034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Software System to check compliance of Packaged Commodities under Legal Metrology (Packaged Commodities) Rules, 2011 by scanning products, images and labels.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Agriculture, Food Tech &amp; Rural Development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 Runtime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Larpers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– Runtime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Larpers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599" y="9656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44090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Scanning Police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64023"/>
            <a:ext cx="1453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Runtime </a:t>
            </a:r>
            <a:r>
              <a:rPr lang="en-US" dirty="0" err="1"/>
              <a:t>Lapers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376" y="136522"/>
            <a:ext cx="2249850" cy="10623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BEB013-FE9A-1737-7652-479606DA3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25" y="1457344"/>
            <a:ext cx="5875459" cy="48867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4AE11E1-20BD-36FB-6378-E573D66EF5D8}"/>
              </a:ext>
            </a:extLst>
          </p:cNvPr>
          <p:cNvSpPr txBox="1"/>
          <p:nvPr/>
        </p:nvSpPr>
        <p:spPr>
          <a:xfrm>
            <a:off x="609599" y="1682496"/>
            <a:ext cx="4968241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IDEA</a:t>
            </a:r>
          </a:p>
          <a:p>
            <a:pPr algn="just"/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Implementation of </a:t>
            </a: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Scanning Police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, a multimodal computer vision engine specialized for real-time verification of Legal Metrology (Packaged Commodities) Rules, 2011 across physical retail and e-commerce platforms.</a:t>
            </a:r>
          </a:p>
          <a:p>
            <a:pPr algn="just"/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Multimodal OCR pipeline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for multi-angle scanning of flexible packaging, cylindrical bottles, and paper labels.</a:t>
            </a:r>
          </a:p>
          <a:p>
            <a:pPr lvl="0" algn="just"/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Spatial layout parser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to isolate key text fields regardless of font style, graphic design, or text orientation.</a:t>
            </a:r>
          </a:p>
          <a:p>
            <a:pPr lvl="0" algn="just"/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Legal Metrology rule-mapping backend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to validate mandatory declarations (MRP, Net Quantity, Mfg. Date, Country of Origin, Customer Care).</a:t>
            </a:r>
          </a:p>
          <a:p>
            <a:pPr lvl="0" algn="just"/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Automated bounding-box detection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that visually flags missing, misplaced, or illegible label information.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Edge-compatible mobile client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allowing field auditors to run baseline scans without an active internet connection.</a:t>
            </a:r>
          </a:p>
          <a:p>
            <a:endParaRPr lang="en-IN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653116E-9F18-854E-7A2D-30232C082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57344"/>
            <a:ext cx="5870957" cy="217816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46703EA-777E-F1C2-07D7-5C05F36CDC4A}"/>
              </a:ext>
            </a:extLst>
          </p:cNvPr>
          <p:cNvSpPr txBox="1"/>
          <p:nvPr/>
        </p:nvSpPr>
        <p:spPr>
          <a:xfrm>
            <a:off x="6366002" y="1593973"/>
            <a:ext cx="5330952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Resolution:</a:t>
            </a:r>
          </a:p>
          <a:p>
            <a:pPr algn="just"/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Automates field &amp; digital audits: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Replaces slow, manual visual checks with automated scanning and instant pass/fail report generation for Ministry enforcement officers.</a:t>
            </a:r>
          </a:p>
          <a:p>
            <a:pPr lvl="0" algn="just"/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Eliminates online listing non-compliance: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Integrates into e-commerce vendor onboarding to automatically flag non-compliant packaging before products are listed online.</a:t>
            </a:r>
          </a:p>
          <a:p>
            <a:endParaRPr lang="en-IN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9A03A10-AA36-5E22-57E0-3199227A2A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3748372"/>
            <a:ext cx="5870957" cy="259038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E7546C1-05AD-58A1-B02B-99DF26D6DDC9}"/>
              </a:ext>
            </a:extLst>
          </p:cNvPr>
          <p:cNvSpPr txBox="1"/>
          <p:nvPr/>
        </p:nvSpPr>
        <p:spPr>
          <a:xfrm>
            <a:off x="6366001" y="3900717"/>
            <a:ext cx="5216398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Unique Value Propositions (UVP):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Sub-second validation latency</a:t>
            </a:r>
          </a:p>
          <a:p>
            <a:pPr algn="just"/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Dynamic bounding-box overlay highlighting errors directly on the image</a:t>
            </a:r>
          </a:p>
          <a:p>
            <a:pPr algn="just"/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Spatial layout parser that extracts text effectively regardless of packaging curvature or wrinkles.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Oval 17410" descr="Your startup LOGO">
            <a:extLst>
              <a:ext uri="{FF2B5EF4-FFF2-40B4-BE49-F238E27FC236}">
                <a16:creationId xmlns:a16="http://schemas.microsoft.com/office/drawing/2014/main" id="{9E070574-4475-1E64-B9C9-57DF52888E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64023"/>
            <a:ext cx="1453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Runtime </a:t>
            </a:r>
            <a:r>
              <a:rPr lang="en-US" dirty="0" err="1"/>
              <a:t>Lapers</a:t>
            </a:r>
            <a:endParaRPr lang="en-IN" dirty="0"/>
          </a:p>
        </p:txBody>
      </p:sp>
      <p:pic>
        <p:nvPicPr>
          <p:cNvPr id="17413" name="Picture 17412">
            <a:extLst>
              <a:ext uri="{FF2B5EF4-FFF2-40B4-BE49-F238E27FC236}">
                <a16:creationId xmlns:a16="http://schemas.microsoft.com/office/drawing/2014/main" id="{1D82E8CD-EF9A-EAB4-43FD-346E70E1D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110" y="1336119"/>
            <a:ext cx="4971034" cy="4460024"/>
          </a:xfrm>
          <a:prstGeom prst="rect">
            <a:avLst/>
          </a:prstGeom>
        </p:spPr>
      </p:pic>
      <p:sp>
        <p:nvSpPr>
          <p:cNvPr id="17414" name="Rectangle: Rounded Corners 17413">
            <a:extLst>
              <a:ext uri="{FF2B5EF4-FFF2-40B4-BE49-F238E27FC236}">
                <a16:creationId xmlns:a16="http://schemas.microsoft.com/office/drawing/2014/main" id="{105C95D9-E586-B60E-CB11-93984D1397BA}"/>
              </a:ext>
            </a:extLst>
          </p:cNvPr>
          <p:cNvSpPr/>
          <p:nvPr/>
        </p:nvSpPr>
        <p:spPr>
          <a:xfrm>
            <a:off x="752856" y="1383005"/>
            <a:ext cx="4971034" cy="44131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15" name="TextBox 17414">
            <a:extLst>
              <a:ext uri="{FF2B5EF4-FFF2-40B4-BE49-F238E27FC236}">
                <a16:creationId xmlns:a16="http://schemas.microsoft.com/office/drawing/2014/main" id="{8B282591-35E6-A4F3-E4A7-DFD5E63C6986}"/>
              </a:ext>
            </a:extLst>
          </p:cNvPr>
          <p:cNvSpPr txBox="1"/>
          <p:nvPr/>
        </p:nvSpPr>
        <p:spPr>
          <a:xfrm>
            <a:off x="1078250" y="1499616"/>
            <a:ext cx="432024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Technologies to be Used</a:t>
            </a: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Backend Framework: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Python with </a:t>
            </a:r>
            <a:r>
              <a:rPr lang="en-IN" sz="1300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for high-performance, asynchronous REST API endpoints.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AI/ML Extraction: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Vision-Language Models (VLM) managed via dedicated microservices for spatial text extraction and image parsing.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Core Logic: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A deterministic Python-based rules engine to validate extracted text against LMPC requirements.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Database &amp; Storage: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Relational database mapping using ORM models (user.py, scan.py, combined with scalable blob storage for hosting raw product images.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Testing &amp; CI/CD: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300" dirty="0" err="1">
                <a:latin typeface="Arial" panose="020B0604020202020204" pitchFamily="34" charset="0"/>
                <a:cs typeface="Arial" panose="020B0604020202020204" pitchFamily="34" charset="0"/>
              </a:rPr>
              <a:t>Pytest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ensuring robust test coverage for validation rules and API logic. </a:t>
            </a:r>
          </a:p>
          <a:p>
            <a:endParaRPr lang="en-IN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A88711FB-A1B8-BD4A-EE8D-743FD36F090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64023"/>
            <a:ext cx="1453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Runtime </a:t>
            </a:r>
            <a:r>
              <a:rPr lang="en-US" dirty="0" err="1"/>
              <a:t>Lapers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9C5E77-70F8-090D-BFDD-D75DD8E83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18" y="1501884"/>
            <a:ext cx="5370870" cy="47163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4BBD76-20E5-6F17-90CB-C5B5D486ADB4}"/>
              </a:ext>
            </a:extLst>
          </p:cNvPr>
          <p:cNvSpPr txBox="1"/>
          <p:nvPr/>
        </p:nvSpPr>
        <p:spPr>
          <a:xfrm>
            <a:off x="767013" y="2167290"/>
            <a:ext cx="483108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Analysis of the Feasibility of the Idea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Highly viable due to the integration of established, open-source Vision-Language Models (e.g.,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LayoutLM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) and cloud OCR APIs, ensuring low upfront development and compute costs.</a:t>
            </a:r>
          </a:p>
          <a:p>
            <a:pPr lvl="0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Requires zero specialized hardware; the mobile application relies on standard smartphone cameras, making it instantly deployable to Ministry field officers.</a:t>
            </a:r>
          </a:p>
          <a:p>
            <a:pPr lvl="0"/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modular backend separates the OCR extraction from the validation logic, meaning LMPC rule updates can be deployed instantly without retraining the AI models.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01EDAD-4CCC-0EE6-90A3-4E10ADED56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883" y="1501885"/>
            <a:ext cx="5766227" cy="28232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AAEEE9D-DF61-E5EB-8D70-BBAF56D436FB}"/>
              </a:ext>
            </a:extLst>
          </p:cNvPr>
          <p:cNvSpPr txBox="1"/>
          <p:nvPr/>
        </p:nvSpPr>
        <p:spPr>
          <a:xfrm>
            <a:off x="6643556" y="1539590"/>
            <a:ext cx="475488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Potential Challenges and Risks</a:t>
            </a:r>
          </a:p>
          <a:p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Optical Distortion: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Heavy reflective glare on plastic wrappers and perspective warping on cylindrical packaging (bottles, cans) can cause standard OCR to fail.</a:t>
            </a:r>
          </a:p>
          <a:p>
            <a:pPr lvl="0"/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Format Variability: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Unpredictable graphic designs, highly stylized marketing fonts, and multi-lingual text can disrupt data extraction.</a:t>
            </a:r>
          </a:p>
          <a:p>
            <a:pPr lvl="0"/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300" b="1" dirty="0">
                <a:latin typeface="Arial" panose="020B0604020202020204" pitchFamily="34" charset="0"/>
                <a:cs typeface="Arial" panose="020B0604020202020204" pitchFamily="34" charset="0"/>
              </a:rPr>
              <a:t>Network Reliability:</a:t>
            </a: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 Field auditors inspecting remote warehouses may encounter low or no internet connectivity, halting cloud-based API processing.</a:t>
            </a:r>
          </a:p>
          <a:p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04F03A6-245E-9518-4790-108B54AC8C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7884" y="4362817"/>
            <a:ext cx="5766226" cy="182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8DE3F6-D3D3-7B1D-5BCE-55D999FA78A2}"/>
              </a:ext>
            </a:extLst>
          </p:cNvPr>
          <p:cNvSpPr txBox="1"/>
          <p:nvPr/>
        </p:nvSpPr>
        <p:spPr>
          <a:xfrm>
            <a:off x="4170253" y="3419756"/>
            <a:ext cx="4325112" cy="2021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spcAft>
                <a:spcPts val="400"/>
              </a:spcAft>
              <a:defRPr sz="1600" b="1">
                <a:latin typeface="Aptos"/>
              </a:defRPr>
            </a:pPr>
            <a:r>
              <a:rPr lang="en-US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Benefits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  <a:defRPr sz="1200" b="0">
                <a:latin typeface="Aptos"/>
              </a:defRPr>
            </a:pPr>
            <a:r>
              <a:rPr lang="en-US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SOCIAL — stronger consumer protection and transparency.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  <a:defRPr sz="1200" b="0">
                <a:latin typeface="Aptos"/>
              </a:defRPr>
            </a:pPr>
            <a:r>
              <a:rPr lang="en-US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ECONOMIC — reduces manual inspection effort and identifies repeat non-compliance.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  <a:defRPr sz="1200" b="0">
                <a:latin typeface="Aptos"/>
              </a:defRPr>
            </a:pPr>
            <a:r>
              <a:rPr lang="en-US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GOVERNANCE — auditable, data-driven enforcement and centralized dashboards.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  <a:defRPr sz="1200" b="0">
                <a:latin typeface="Aptos"/>
              </a:defRPr>
            </a:pPr>
            <a:r>
              <a:rPr lang="en-US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SCALABILITY — deployable across districts/states with configurable rule sets.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C6F716-F438-B659-48EE-9C5064D49089}"/>
              </a:ext>
            </a:extLst>
          </p:cNvPr>
          <p:cNvSpPr txBox="1"/>
          <p:nvPr/>
        </p:nvSpPr>
        <p:spPr>
          <a:xfrm>
            <a:off x="5157805" y="4701017"/>
            <a:ext cx="4325112" cy="11285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1600" b="1">
                <a:latin typeface="Aptos"/>
              </a:defRPr>
            </a:pPr>
            <a:r>
              <a:rPr lang="en-US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Success metrics</a:t>
            </a:r>
          </a:p>
          <a:p>
            <a:pPr>
              <a:spcAft>
                <a:spcPts val="400"/>
              </a:spcAft>
              <a:defRPr sz="1200" b="0">
                <a:latin typeface="Aptos"/>
              </a:defRPr>
            </a:pPr>
            <a:r>
              <a:rPr lang="en-US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• Inspection time per product ↓  • Declaration detection accuracy ↑  • False-positive rate ↓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• Reports generated per officer/day ↑  • Repeat violations identified through analytics ↑</a:t>
            </a:r>
          </a:p>
        </p:txBody>
      </p:sp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E70F7546-3E7A-56D6-0C73-B0BF9037EAA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64023"/>
            <a:ext cx="1453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Runtime </a:t>
            </a:r>
            <a:r>
              <a:rPr lang="en-US" dirty="0" err="1"/>
              <a:t>Lapers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FAEEACD-82B8-5E66-E5D3-1E5EFEDBE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887" y="1252727"/>
            <a:ext cx="5297425" cy="49655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CCFD8A8-8071-F3A1-673B-568DAEE36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491" y="1123405"/>
            <a:ext cx="4397675" cy="27249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A89044F-67BF-1084-DFBA-E1534058DB61}"/>
              </a:ext>
            </a:extLst>
          </p:cNvPr>
          <p:cNvSpPr txBox="1"/>
          <p:nvPr/>
        </p:nvSpPr>
        <p:spPr>
          <a:xfrm>
            <a:off x="609600" y="1252727"/>
            <a:ext cx="3706368" cy="2236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Aft>
                <a:spcPts val="400"/>
              </a:spcAft>
              <a:defRPr sz="1600" b="1">
                <a:latin typeface="Aptos"/>
              </a:defRPr>
            </a:pPr>
            <a:r>
              <a:rPr lang="en-US" sz="20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Potential impact on </a:t>
            </a:r>
            <a:r>
              <a:rPr lang="en-US" sz="200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target audience</a:t>
            </a:r>
            <a:endParaRPr lang="en-US" sz="2000" dirty="0"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  <a:p>
            <a:pPr algn="just">
              <a:spcAft>
                <a:spcPts val="400"/>
              </a:spcAft>
              <a:defRPr sz="1200" b="0">
                <a:latin typeface="Aptos"/>
              </a:defRPr>
            </a:pPr>
            <a:r>
              <a:rPr lang="en-US" sz="12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• Legal Metrology officers: faster inspections, standardized evidence and searchable compliance history.</a:t>
            </a:r>
            <a:b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• Consumers: stronger visibility of MRP, quantity, manufacturer/importer and consumer-care declarations.</a:t>
            </a:r>
            <a:b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• Retailers/e-commerce platforms: earlier detection of package/listing issues.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Google.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gemini.com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Claude.com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Chatgpt.com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CB86B473-58CB-3712-D1FC-670E7AA264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64023"/>
            <a:ext cx="1453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Runtime </a:t>
            </a:r>
            <a:r>
              <a:rPr lang="en-US" dirty="0" err="1"/>
              <a:t>Lapers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7804</TotalTime>
  <Words>874</Words>
  <Application>Microsoft Office PowerPoint</Application>
  <PresentationFormat>Widescreen</PresentationFormat>
  <Paragraphs>113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Pranav Sati</cp:lastModifiedBy>
  <cp:revision>153</cp:revision>
  <dcterms:created xsi:type="dcterms:W3CDTF">2013-12-12T18:46:50Z</dcterms:created>
  <dcterms:modified xsi:type="dcterms:W3CDTF">2026-09-05T16:47:40Z</dcterms:modified>
  <cp:category/>
</cp:coreProperties>
</file>